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  <p:sldId id="258" r:id="rId14"/>
    <p:sldId id="259" r:id="rId15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6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10" Type="http://schemas.openxmlformats.org/officeDocument/2006/relationships/slideMaster" Target="slideMasters/slideMaster10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D3020E3-0253-4898-8714-9A1E41DB882D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5B87BB8-CE17-4BF3-8087-0511CB3919E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2F35A3E-CD24-4006-8714-C773A542C5E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GB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C5B6205-6CDE-43B1-925E-FD19AD319B1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E23634D2-D258-4831-B170-D55E6EDA035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GB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GB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96107295-0FC3-47D1-A941-16651BAE176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1ACD9734-C5AE-47C1-BB73-3259221FDD1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98E0726D-AEB2-4FF7-AC71-1547D28A906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7B1543E-A465-49E9-AA0B-3D8FFB7DE41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EC6C0DA7-6A9E-418B-98FC-7D0A420A947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59060445-60AD-487D-9287-1FADFD8601D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GB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3CBDE4-D8F0-4775-8501-FD5084ED95A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GB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GB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  <a:endParaRPr lang="en-GB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  <a:endParaRPr lang="en-GB" sz="20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963D0E-43C9-4742-980F-DB1476634D2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GB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GB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  <a:endParaRPr lang="en-GB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  <a:endParaRPr lang="en-GB" sz="20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192ECE-06DF-4247-B70E-694CB477E78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GB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GB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  <a:endParaRPr lang="en-GB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  <a:endParaRPr lang="en-GB" sz="20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BB559A-1E8A-4525-8F04-28AB6F63152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GB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lang="en-GB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95C7F9-17C8-4431-82DC-ABBA94CCCAE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GB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GB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  <a:endParaRPr lang="en-GB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  <a:endParaRPr lang="en-GB" sz="20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GB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  <a:endParaRPr lang="en-GB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  <a:endParaRPr lang="en-GB" sz="20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4F1AFA-E6A5-414E-BC2A-FD465FF6E01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GB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GB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GB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  <a:endParaRPr lang="en-GB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  <a:endParaRPr lang="en-GB" sz="20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GB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GB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  <a:endParaRPr lang="en-GB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  <a:endParaRPr lang="en-GB" sz="20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C8CECB-E5E6-42F0-98B5-F040D5549FB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GB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B5F87D-3A82-4740-9816-9CB711FDF26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72DC17-3D89-499F-BC3E-B0B2CDA5AEF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GB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GB" sz="32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  <a:endParaRPr lang="en-GB" sz="28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  <a:endParaRPr lang="en-GB" sz="24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  <a:endParaRPr lang="en-GB" sz="20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  <a:endParaRPr lang="en-GB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GB" sz="1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EFD258-2750-47DF-AB7A-C32DBBB658B4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GB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GB" sz="1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09750C-4FF7-4F28-89F3-CF9379CD4B4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GB" sz="6000" b="0" strike="noStrike" spc="-1" dirty="0">
                <a:solidFill>
                  <a:schemeClr val="dk1"/>
                </a:solidFill>
                <a:latin typeface="Calibri Light"/>
              </a:rPr>
              <a:t>COMP20081– Systems Software 2025/26</a:t>
            </a:r>
            <a:endParaRPr lang="en-GB" sz="60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4965" lnSpcReduction="10000"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400" b="0" strike="noStrike" spc="-1" dirty="0">
                <a:solidFill>
                  <a:schemeClr val="dk1"/>
                </a:solidFill>
                <a:latin typeface="Calibri"/>
              </a:rPr>
              <a:t>Coursework presentation 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400" b="0" strike="noStrike" spc="-1" dirty="0">
                <a:solidFill>
                  <a:schemeClr val="dk1"/>
                </a:solidFill>
                <a:latin typeface="Calibri"/>
              </a:rPr>
              <a:t>Implementation and validation of cloud load balancer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400" b="0" strike="noStrike" spc="-1" dirty="0">
                <a:solidFill>
                  <a:srgbClr val="FF0000"/>
                </a:solidFill>
                <a:latin typeface="Calibri"/>
              </a:rPr>
              <a:t>&lt;Student name&gt;, &lt;student id&gt;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Table 3"/>
          <p:cNvGraphicFramePr/>
          <p:nvPr>
            <p:extLst>
              <p:ext uri="{D42A27DB-BD31-4B8C-83A1-F6EECF244321}">
                <p14:modId xmlns:p14="http://schemas.microsoft.com/office/powerpoint/2010/main" val="2469800384"/>
              </p:ext>
            </p:extLst>
          </p:nvPr>
        </p:nvGraphicFramePr>
        <p:xfrm>
          <a:off x="540660" y="269280"/>
          <a:ext cx="11110680" cy="4790040"/>
        </p:xfrm>
        <a:graphic>
          <a:graphicData uri="http://schemas.openxmlformats.org/drawingml/2006/table">
            <a:tbl>
              <a:tblPr/>
              <a:tblGrid>
                <a:gridCol w="42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2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>
                          <a:solidFill>
                            <a:schemeClr val="lt1"/>
                          </a:solidFill>
                          <a:latin typeface="Calibri"/>
                        </a:rPr>
                        <a:t>#</a:t>
                      </a:r>
                      <a:endParaRPr lang="en-GB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>
                          <a:solidFill>
                            <a:schemeClr val="lt1"/>
                          </a:solidFill>
                          <a:latin typeface="Calibri"/>
                        </a:rPr>
                        <a:t>Functionality/Behaviour</a:t>
                      </a:r>
                      <a:endParaRPr lang="en-GB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Summarise the work done. Provide file names and lines where the majority of the code is implemented</a:t>
                      </a:r>
                      <a:endParaRPr lang="en-GB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>
                          <a:solidFill>
                            <a:schemeClr val="lt1"/>
                          </a:solidFill>
                          <a:latin typeface="Calibri"/>
                        </a:rPr>
                        <a:t>Target mark [0..3]</a:t>
                      </a:r>
                      <a:endParaRPr lang="en-GB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3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1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strike="noStrike" kern="1200" spc="-1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+mn-cs"/>
                        </a:rPr>
                        <a:t>User Authentication &amp; Roles</a:t>
                      </a:r>
                      <a:r>
                        <a:rPr lang="en-GB" sz="1100" b="1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: 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The system should have user authentication and authorisation mechanisms to ensure that only authorised users can access files. 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1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2</a:t>
                      </a:r>
                      <a:endParaRPr lang="en-GB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Session Management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: Implement session management to keep users logged in during their interactions with the system.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3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3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File Management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: Create new file: allowing the user to add new content, Update file content and Delete files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3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4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Access Control Lists (ACLs)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: Enable users to set permissions on files for different users (e.g., read and/or write).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3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5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File Sharing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: Allow users to share files with other users and set specific permissions (read/write).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23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6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Encryption/Decryption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: Use strong encryption algorithms (e.g., AES) to encrypt passwords and file chunks before distribution and decrypt them upon retrieval.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23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7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Load Balancer Functionality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: The load balancer should distribute incoming requests evenly among the file storage containers.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23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8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Traffic Management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: The load balancer should handle traffic spikes without degrading performance, maintaining a responsive user experience.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23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9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Health Check Mechanism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: Implement health checks for file storage containers to ensure only healthy containers receive traffic.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Table 3"/>
          <p:cNvGraphicFramePr/>
          <p:nvPr>
            <p:extLst>
              <p:ext uri="{D42A27DB-BD31-4B8C-83A1-F6EECF244321}">
                <p14:modId xmlns:p14="http://schemas.microsoft.com/office/powerpoint/2010/main" val="2852184669"/>
              </p:ext>
            </p:extLst>
          </p:nvPr>
        </p:nvGraphicFramePr>
        <p:xfrm>
          <a:off x="95400" y="275040"/>
          <a:ext cx="11914920" cy="3749040"/>
        </p:xfrm>
        <a:graphic>
          <a:graphicData uri="http://schemas.openxmlformats.org/drawingml/2006/table">
            <a:tbl>
              <a:tblPr/>
              <a:tblGrid>
                <a:gridCol w="66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3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>
                          <a:solidFill>
                            <a:schemeClr val="lt1"/>
                          </a:solidFill>
                          <a:latin typeface="Calibri"/>
                        </a:rPr>
                        <a:t>#</a:t>
                      </a:r>
                      <a:endParaRPr lang="en-GB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>
                          <a:solidFill>
                            <a:schemeClr val="lt1"/>
                          </a:solidFill>
                          <a:latin typeface="Calibri"/>
                        </a:rPr>
                        <a:t>Functionality/Behaviour</a:t>
                      </a:r>
                      <a:endParaRPr lang="en-GB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Summarise the work done. Provide file names and lines where the majority of the code is implemented</a:t>
                      </a:r>
                      <a:endParaRPr lang="en-GB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>
                          <a:solidFill>
                            <a:schemeClr val="lt1"/>
                          </a:solidFill>
                          <a:latin typeface="Calibri"/>
                        </a:rPr>
                        <a:t>Target mark [0..3]</a:t>
                      </a:r>
                      <a:endParaRPr lang="en-GB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10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Artificial Delay Simulation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: Introduce artificial delays ranging from 30 to 90 seconds to simulate real-world latency.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2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11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Concurrency Control</a:t>
                      </a:r>
                      <a:r>
                        <a:rPr lang="en-GB" sz="1100" b="0" strike="noStrike" kern="1200" spc="-1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+mn-cs"/>
                        </a:rPr>
                        <a:t>: Lock files during upload, download, and deletion to ensure data integrity and prevent conflicts.</a:t>
                      </a:r>
                    </a:p>
                  </a:txBody>
                  <a:tcPr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12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Local SQLite Database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: Implement a local SQLite database to store user session data and temporary file metadata, ensuring fast access and reduced latency.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13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Remote MySQL Database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: Configure a remote MySQL database to store user profiles, file metadata, and access control lists, enabling centralised management.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14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Database Synchronisation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: Implement synchronisation mechanisms between the local SQLite database and the remote MySQL database to ensure data consistency across both databases.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15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Logging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: Implement logging for all user actions and system events for audit and debugging purposes.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16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Scalability and Elasticity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: The system should allow the addition of more file storage containers to handle increased workloads seamlessly (e.g., using docker compose, Kubernetes, Terraform).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" name="Table 3"/>
          <p:cNvGraphicFramePr/>
          <p:nvPr>
            <p:extLst>
              <p:ext uri="{D42A27DB-BD31-4B8C-83A1-F6EECF244321}">
                <p14:modId xmlns:p14="http://schemas.microsoft.com/office/powerpoint/2010/main" val="3557612534"/>
              </p:ext>
            </p:extLst>
          </p:nvPr>
        </p:nvGraphicFramePr>
        <p:xfrm>
          <a:off x="529200" y="719640"/>
          <a:ext cx="11110320" cy="2133600"/>
        </p:xfrm>
        <a:graphic>
          <a:graphicData uri="http://schemas.openxmlformats.org/drawingml/2006/table">
            <a:tbl>
              <a:tblPr/>
              <a:tblGrid>
                <a:gridCol w="420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2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>
                          <a:solidFill>
                            <a:schemeClr val="lt1"/>
                          </a:solidFill>
                          <a:latin typeface="Calibri"/>
                        </a:rPr>
                        <a:t>#</a:t>
                      </a:r>
                      <a:endParaRPr lang="en-GB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>
                          <a:solidFill>
                            <a:schemeClr val="lt1"/>
                          </a:solidFill>
                          <a:latin typeface="Calibri"/>
                        </a:rPr>
                        <a:t>Functionality/Behaviour</a:t>
                      </a:r>
                      <a:endParaRPr lang="en-GB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Summarise the work done. Provide file names and lines where the majority of the code is implemented</a:t>
                      </a:r>
                      <a:endParaRPr lang="en-GB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>
                          <a:solidFill>
                            <a:schemeClr val="lt1"/>
                          </a:solidFill>
                          <a:latin typeface="Calibri"/>
                        </a:rPr>
                        <a:t>Target mark [0..3]</a:t>
                      </a:r>
                      <a:endParaRPr lang="en-GB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17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User Interface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: Provide a user-friendly JavaFX interface for users to interact with the system intuitively.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18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Performance Metrics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: Implement metrics to monitor performance and usage statistics of the load balancer and file storage containers.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b="0" strike="noStrike" spc="-1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19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Emulation of a terminal: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 enable users running the following commands: mv, cp, ls, </a:t>
                      </a:r>
                      <a:r>
                        <a:rPr lang="en-GB" sz="1100" b="0" strike="noStrike" spc="-1" dirty="0" err="1">
                          <a:solidFill>
                            <a:schemeClr val="dk1"/>
                          </a:solidFill>
                          <a:latin typeface="Calibri"/>
                        </a:rPr>
                        <a:t>mkdir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, </a:t>
                      </a:r>
                      <a:r>
                        <a:rPr lang="en-GB" sz="1100" b="0" strike="noStrike" spc="-1" dirty="0" err="1">
                          <a:solidFill>
                            <a:schemeClr val="dk1"/>
                          </a:solidFill>
                          <a:latin typeface="Calibri"/>
                        </a:rPr>
                        <a:t>ps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, </a:t>
                      </a:r>
                      <a:r>
                        <a:rPr lang="en-GB" sz="1100" b="0" strike="noStrike" spc="-1" dirty="0" err="1">
                          <a:solidFill>
                            <a:schemeClr val="dk1"/>
                          </a:solidFill>
                          <a:latin typeface="Calibri"/>
                        </a:rPr>
                        <a:t>whoami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, tree, nano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20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100" b="1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File Chunking: </a:t>
                      </a:r>
                      <a:r>
                        <a:rPr lang="en-GB" sz="1100" b="0" strike="noStrike" spc="-1" dirty="0">
                          <a:solidFill>
                            <a:schemeClr val="dk1"/>
                          </a:solidFill>
                          <a:latin typeface="Calibri"/>
                        </a:rPr>
                        <a:t>Develop a file chunking mechanism to split large files into smaller, manageable parts.</a:t>
                      </a:r>
                      <a:endParaRPr lang="en-GB" sz="11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b="0" strike="noStrike" spc="-1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b="0" strike="noStrike" spc="-1" dirty="0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9798</TotalTime>
  <Words>571</Words>
  <Application>Microsoft Office PowerPoint</Application>
  <PresentationFormat>Widescreen</PresentationFormat>
  <Paragraphs>57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4</vt:i4>
      </vt:variant>
    </vt:vector>
  </HeadingPairs>
  <TitlesOfParts>
    <vt:vector size="21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COMP20081– Systems Software 2025/26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Mohmed, Gadelhag</cp:lastModifiedBy>
  <cp:revision>217</cp:revision>
  <dcterms:created xsi:type="dcterms:W3CDTF">2013-07-15T20:26:40Z</dcterms:created>
  <dcterms:modified xsi:type="dcterms:W3CDTF">2025-10-02T09:48:41Z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0x01010053E1059A3D5B7743B923C57C88035066</vt:lpwstr>
  </property>
  <property fmtid="{D5CDD505-2E9C-101B-9397-08002B2CF9AE}" pid="3" name="PresentationFormat">
    <vt:lpwstr>Widescreen</vt:lpwstr>
  </property>
  <property fmtid="{D5CDD505-2E9C-101B-9397-08002B2CF9AE}" pid="4" name="Slides">
    <vt:i4>4</vt:i4>
  </property>
</Properties>
</file>